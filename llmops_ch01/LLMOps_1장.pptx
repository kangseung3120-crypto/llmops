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8"/>
    <p:sldId id="327" r:id="rId7"/>
    <p:sldId id="328" r:id="rId6"/>
    <p:sldId id="329" r:id="rId5"/>
    <p:sldId id="330" r:id="rId4"/>
    <p:sldId id="331" r:id="rId3"/>
    <p:sldId id="332" r:id="rId46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295"/>
            <p14:sldId id="296"/>
          </p14:sldIdLst>
        </p14:section>
        <p14:section name="수업 준비" id="{5EC71001-0000-4000-8000-000000000002}">
          <p14:sldIdLst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1-1 요청 단위 관측" id="{5EC71002-0000-4000-8000-000000000003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</p14:sldIdLst>
        </p14:section>
        <p14:section name="1-2 Trace 재조회" id="{5EC71003-0000-4000-8000-000000000004}">
          <p14:sldIdLst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1-3 업무 도구 추적" id="{5EC71004-0000-4000-8000-000000000005}">
          <p14:sldIdLst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  <p14:section name="1-4 실패 분류" id="{5EC71005-0000-4000-8000-000000000006}">
          <p14:sldIdLst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  <p14:section name="정리" id="{5EC71006-0000-4000-8000-000000000007}">
          <p14:sldIdLst>
            <p14:sldId id="332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9.xml"/><Relationship Id="rId4" Type="http://schemas.openxmlformats.org/officeDocument/2006/relationships/slide" Target="slides/slide38.xml"/><Relationship Id="rId5" Type="http://schemas.openxmlformats.org/officeDocument/2006/relationships/slide" Target="slides/slide37.xml"/><Relationship Id="rId6" Type="http://schemas.openxmlformats.org/officeDocument/2006/relationships/slide" Target="slides/slide36.xml"/><Relationship Id="rId7" Type="http://schemas.openxmlformats.org/officeDocument/2006/relationships/slide" Target="slides/slide35.xml"/><Relationship Id="rId8" Type="http://schemas.openxmlformats.org/officeDocument/2006/relationships/slide" Target="slides/slide34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99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1-1 → 1-2 → 1-3 → 1-4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{"completed", "failed", "cancelled"}   ② end &lt; start   ③ "cancelled"</a:t>
            </a:r>
          </a:p>
          <a:p/>
          <a:p>
            <a:r>
              <a:t>정답 파일: llmops_ch01\q4_solution.py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LangChain · RAG · CE로 **답을 만드는 법**은 배웠어요. LLMOps는 **답이 나온 다음**을 다뤄요.</a:t>
            </a:r>
          </a:p>
          <a:p>
            <a:r>
              <a:t>1장은 **한 요청의 증거**를 남기고 읽는 장이에요: 검색 결과 · 모델 입력 · 출력 · 완료 여부</a:t>
            </a:r>
          </a:p>
          <a:p>
            <a:r>
              <a:t>실제 모델 호출은 **준비 1회 + 1강 1회 + 3강 1회 = 3회**. 2강 · 4강은 모델을 부르지 않아요.</a:t>
            </a:r>
          </a:p>
          <a:p>
            <a:r>
              <a:t>실패가 보이면 **다음 명령으로 넘어가지 않기** — 종료 코드 1은 숨기지 않은 실패예요.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코드는 **내 PC**에서 실행해요. LangChain이 검색 결과 · 프롬프트 · 모델 호출을 연결해요.</a:t>
            </a:r>
          </a:p>
          <a:p>
            <a:r>
              <a:t>**OpenAI API**가 답변을 만들고, **Langfuse Cloud**는 실행 기록과 평가 점수를 **보관 · 표시**해요.</a:t>
            </a:r>
          </a:p>
          <a:p>
            <a:r>
              <a:t>Langfuse가 코드를 호스팅하거나 **모델 비용을 대신 내지 않아요.**</a:t>
            </a:r>
          </a:p>
          <a:p>
            <a:r>
              <a:t>평가 계산과 권한 검사는 **Python 코드**가 해요. Langfuse는 결과를 보는 화면이에요.</a:t>
            </a:r>
          </a:p>
          <a:p>
            <a:r>
              <a:t>서버 · Docker · DB 설치, LangSmith 계정은 **필요 없어요.**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 3가지: **내 PC에서 실제 답변** · **내 Langfuse에서 같은 실행 찾기** · **키 구분과 문제 확인 위치**</a:t>
            </a:r>
          </a:p>
          <a:p>
            <a:r>
              <a:t>가입 → 조직 llmops-study → 프로젝트 policy-qa (Hobby 요금제, 반 전체 초대 X)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Langfuse 키는 **Project Settings → API Keys**의 **프로젝트 키** — Organization API Keys와 구분</a:t>
            </a:r>
          </a:p>
          <a:p>
            <a:r>
              <a:t>Secret Key는 **만든 직후 한 번만** 보여요. 잃어버리면 새로 발급해서 교체</a:t>
            </a:r>
          </a:p>
          <a:p>
            <a:r>
              <a:t>Public/Secret은 **같은 프로젝트의 한 쌍**. Secret만 바꿔 다른 Public과 섞지 않기</a:t>
            </a:r>
          </a:p>
          <a:p>
            <a:r>
              <a:t>LANGFUSE_BASE_URL은 **지역 기본 주소까지만** — 프로젝트 상세 경로나 /api 붙이지 않기</a:t>
            </a:r>
          </a:p>
          <a:p>
            <a:r>
              <a:t>OPENAI_API_KEY는 **ChatGPT 비밀번호가 아니에요.** 구독과 API 요금도 별개</a:t>
            </a:r>
          </a:p>
          <a:p>
            <a:r>
              <a:t>키 값을 **교안 댓글 · 채팅 · 화면 공유 · Git**에 붙이지 않아요.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ZIP은 **한 번만** 풀고, **00_start.py와 pyproject.toml이 바로 보이는 폴더**를 VS Code로 열어요.</a:t>
            </a:r>
          </a:p>
          <a:p>
            <a:r>
              <a:t>**Copy-Item .env.example .env** — 이미 .env가 있으면 덮어쓰지 말고 편집. 파일 이름이 **.env.txt**가 아닌지 확인</a:t>
            </a:r>
          </a:p>
          <a:p>
            <a:r>
              <a:t>uv init · uv add · 가상환경 활성화 **필요 없어요.** 모든 실행은 **uv run --locked 파일명.py**</a:t>
            </a:r>
          </a:p>
          <a:p>
            <a:r>
              <a:t>성공 확인: **completed · 하루 2만원 · 영수증 · [meal] · Trace 주소**. 문장 표현은 달라도 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**auth_check()** — Langfuse 인증부터 확인, 실패하면 LANGFUSE_AUTH_FAILED로 중단</a:t>
            </a:r>
          </a:p>
          <a:p>
            <a:r>
              <a:t>**answer()** — 검색 + 실제 모델 호출. 1장에서 이 함수 안을 단계별로 열어 봐요.</a:t>
            </a:r>
          </a:p>
          <a:p>
            <a:r>
              <a:t>**create_score()** — 완료 판정은 **Python 코드**가 하고, Langfuse는 **같은 Trace ID에 보관**</a:t>
            </a:r>
          </a:p>
          <a:p>
            <a:r>
              <a:t>**response_completed=1 = 응답이 끝났다** — 2만원 · 영수증 · 출처가 맞는지는 **따로 읽어요.**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터미널 Trace 주소 **Ctrl+클릭**, 또는 **Observability → Tracing**에서 기간 · **llmops-course** 환경 확인</a:t>
            </a:r>
          </a:p>
          <a:p>
            <a:r>
              <a:t>Tree: **policy-qa**(요청 구간) → **retrieve**(검색) → **generate-answer** → **ChatOpenAI**(실제 모델 호출)</a:t>
            </a:r>
          </a:p>
          <a:p>
            <a:r>
              <a:t>Trace 자체 Input이 **null**, Output이 **undefined**여도 정상 — 입출력은 **각 observation**에 있어요.</a:t>
            </a:r>
          </a:p>
          <a:p>
            <a:r>
              <a:t>**response_completed: True**는 Trace 상단 점수 — ChatOpenAI의 Scores 탭에서 찾는 게 아니에요.</a:t>
            </a:r>
          </a:p>
          <a:p>
            <a:r>
              <a:t>기록이 안 보이면 **모델 재호출 X** → 프로젝트 · 기간 확인 후 잠시 뒤 같은 주소 다시 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오류는 **종류와 HTTP 상태만** 보여 줘요 — API 오류 원문에 인증 정보가 섞일 수 있어서</a:t>
            </a:r>
          </a:p>
          <a:p>
            <a:r>
              <a:t>**401**: 키 쌍 · 지역 주소 / **403**: 모델 권한 / **429**: 반복 호출 멈추고 한도 확인</a:t>
            </a:r>
          </a:p>
          <a:p>
            <a:r>
              <a:t>Trace가 안 보임 → **프로젝트 · 지역 · 기간 · 환경 필터** → 잠시 뒤 다시 열기</a:t>
            </a:r>
          </a:p>
          <a:p>
            <a:r>
              <a:t>터미널에 직접 설정한 환경 변수가 **.env보다 우선**할 수 있어요 → 새 터미널</a:t>
            </a:r>
          </a:p>
          <a:p>
            <a:r>
              <a:t>Hobby: **월 50,000 units · 30일 과거 데이터**. unit ≠ 모델 호출 1회. 전체 실행 시 모델 최대 **22회**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상황: 교육비를 물었는데 **수료증이 빠졌어요.** 프롬프트부터 고치면 될까요?</a:t>
            </a:r>
          </a:p>
          <a:p>
            <a:r>
              <a:t>**LLMOps** = 실제 요청을 관측하고 → 실패를 평가 데이터로 남기고 → 변경 전후를 같은 기준으로 비교하는 운영 과정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교육비 질문에 **영수증만 답하고 수료증을 빠뜨렸다**고 가정해요.</a:t>
            </a:r>
          </a:p>
          <a:p>
            <a:r>
              <a:t>① 검색 결과에 **training**이 있나? ② 모델 입력에 **수료증 문장**이 들어갔나? ③ 출력에서 빠뜨렸나?</a:t>
            </a:r>
          </a:p>
          <a:p>
            <a:r>
              <a:t>**최종 답변만 모아 두면** 이 세 상황을 구분할 수 없어요.</a:t>
            </a:r>
          </a:p>
          <a:p>
            <a:r>
              <a:t>문서는 **meal · travel · training 세 건**뿐 — 검색 성능이 아니라 **실패 위치 읽기**에 집중하려고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**Trace ID** = 한 요청의 실행을 묶는 식별자. 그 안에 span · GENERATION 같은 **observation**</a:t>
            </a:r>
          </a:p>
          <a:p>
            <a:r>
              <a:t>**span** = 작업 구간, **GENERATION** = 모델 호출에 특화된 구간 → 느린 이유를 검색/생성으로 나눠 봐요.</a:t>
            </a:r>
          </a:p>
          <a:p>
            <a:r>
              <a:t>일반 Python 함수 retrieve()는 **자동 추적되지 않아요** → **수동 span**으로 경계 표시</a:t>
            </a:r>
          </a:p>
          <a:p>
            <a:r>
              <a:t>**CallbackHandler()를 만드는 것만으로는 기록 안 돼요** — invoke의 **callbacks**에 넘겨야 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 문서의 **ID와 본문을 함께** context에 → 답변의 출처를 검사할 수 있게</a:t>
            </a:r>
          </a:p>
          <a:p>
            <a:r>
              <a:t>지시는 **system**, 근거와 질문은 **human** 메시지로 분리</a:t>
            </a:r>
          </a:p>
          <a:p>
            <a:r>
              <a:t>**run_name**은 생성 체인을 찾을 이름. GENERATION 이름 · 중간 노드 수는 SDK마다 달라요 → **종류와 부모 관계**로 읽기</a:t>
            </a:r>
          </a:p>
          <a:p>
            <a:r>
              <a:t>**app_version**은 코드가 붙인 표지 — 값만 바꾼다고 실행이 바뀌진 않아요. 실제 변경과 **함께** 바꿔요.</a:t>
            </a:r>
          </a:p>
          <a:p>
            <a:r>
              <a:t>실무: 색인 버전 · 모델 버전 · 프롬프트 버전도 함께 남겨야 **재현**할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**completed** = 모델이 응답을 끝냈다. **금액과 증빙이 맞다는 뜻은 아니에요.**</a:t>
            </a:r>
          </a:p>
          <a:p>
            <a:r>
              <a:t>status가 completed가 아니거나 **빈 답변**이면 MODEL_RESPONSE_INCOMPLETE — 길이 제한으로 **잘린 답도 실패**</a:t>
            </a:r>
          </a:p>
          <a:p>
            <a:r>
              <a:t>실패하면 종료 코드 1. 예제 답변을 대신 출력하거나 **다른 모델로 자동 전환하지 않아요.**</a:t>
            </a:r>
          </a:p>
          <a:p>
            <a:r>
              <a:t>반환 딕셔너리가 다음 강의로 이어져요: **trace_id → 1-2**, **answer → 2장**, **usage · latency → 3장**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**retrieve** 선택 → Preview의 **document_ids = training** 확인</a:t>
            </a:r>
          </a:p>
          <a:p>
            <a:r>
              <a:t>**ChatOpenAI** 선택 → user 메시지에 **[training] 규정 본문**이 실제로 들어갔는지 대조</a:t>
            </a:r>
          </a:p>
          <a:p>
            <a:r>
              <a:t>assistant 답변에서 **연간 20만원 · 영수증 · 수료증 · [training]** — 숫자만 맞고 서류 하나 빠질 수 있어요.</a:t>
            </a:r>
          </a:p>
          <a:p>
            <a:r>
              <a:t>result_01.json은 **다음 강의에서 같은 실행을 찾는 작은 기록** — Langfuse를 대신하는 로그 저장소가 아니에요.</a:t>
            </a:r>
          </a:p>
          <a:p>
            <a:r>
              <a:t>수정해 볼 곳: 01_trace.py의 **질문 문자열**을 교육비 → 출장 숙박비로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(q1_solution.py와 같아요)</a:t>
            </a:r>
          </a:p>
          <a:p/>
          <a:p>
            <a:r>
              <a:t># 교육비 답변에서 수료증이 빠졌어요. 앞 단계의 증거부터 확인해 실패가 처음 드러난 위치를 반환하세요.</a:t>
            </a:r>
          </a:p>
          <a:p>
            <a:r>
              <a:t>def locate(question, context, answer):</a:t>
            </a:r>
          </a:p>
          <a:p>
            <a:r>
              <a:t>    if not retrieve(question):  # 검색 문서가 하나도 없어요</a:t>
            </a:r>
          </a:p>
          <a:p>
            <a:r>
              <a:t>        return "검색"</a:t>
            </a:r>
          </a:p>
          <a:p>
            <a:r>
              <a:t>    if not all(term in context for term in REQUIRED):</a:t>
            </a:r>
          </a:p>
          <a:p>
            <a:r>
              <a:t>        return "입력 조립"</a:t>
            </a:r>
          </a:p>
          <a:p>
            <a:r>
              <a:t>    if not all(term in answer for term in REQUIRED):</a:t>
            </a:r>
          </a:p>
          <a:p>
            <a:r>
              <a:t>        return "생성"</a:t>
            </a:r>
          </a:p>
          <a:p>
            <a:r>
              <a:t>    return "정상"</a:t>
            </a:r>
          </a:p>
          <a:p/>
          <a:p>
            <a:r>
              <a:t>생각해 보기: A처럼 검색이 비었고 모델이 '확인할 수 없습니다'라고 답했다면 실패일까요? 규정 밖 질문인지, 표현 차이로 못 찾은 것인지 어떻게 구분할까요?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not retrieve(question)   ② context   ③ answer</a:t>
            </a:r>
          </a:p>
          <a:p/>
          <a:p>
            <a:r>
              <a:t>정답 파일: llmops_ch01\q1_solution.py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상황: 터미널엔 답이 나왔는데 **Langfuse 목록에서 안 보여요.**</a:t>
            </a:r>
          </a:p>
          <a:p>
            <a:r>
              <a:t>모델을 다시 부르면 **기록이 하나 더 생기고 비용도 추가** → 먼저 **조회만** 다시 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SDK는 실행 중에도 기록을 보낼 수 있어요. **flush()**는 종료 전에 **남은 전송**을 처리하는 호출</a:t>
            </a:r>
          </a:p>
          <a:p>
            <a:r>
              <a:t>서버가 받아서 **검색 가능한 상태로 반영**되는 시점은 flush와 다를 수 있어요.</a:t>
            </a:r>
          </a:p>
          <a:p>
            <a:r>
              <a:t>그래서 **세 단계로 나눠** 확인: 터미널 답변 → SDK 전송 완료 → 서버 재조회 성공</a:t>
            </a:r>
          </a:p>
          <a:p>
            <a:r>
              <a:t>이번 파일은 **모델을 새로 호출하지 않고** result_01.json의 Trace ID를 써요.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문장으로 찾으면 **같은 질문을 반복한 실행들이 섞여요.** → **trace_id**로 좁히기</a:t>
            </a:r>
          </a:p>
          <a:p>
            <a:r>
              <a:t>**started_at**(UTC) 앞뒤 1분 여유 — 화면은 **지역 시간**으로 보일 수 있어요.</a:t>
            </a:r>
          </a:p>
          <a:p>
            <a:r>
              <a:t>**fields**로 필요한 것만: core · basic · usage · model · io → 조회량 · 분석 부담 감소</a:t>
            </a:r>
          </a:p>
          <a:p>
            <a:r>
              <a:t>반환 목록은 **트리 순서가 아니에요.** name · type · 부모 관계 · 시각으로 구조를 읽어요.</a:t>
            </a:r>
          </a:p>
          <a:p>
            <a:r>
              <a:t>구형 trace 조회 · 구형 score API와 섞지 않기 — 이번 SDK는 **observations · scores_v3**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 span이 있어도 **모델 호출 완료의 증거는 아니에요** → type이 **GENERATION**인 것만</a:t>
            </a:r>
          </a:p>
          <a:p>
            <a:r>
              <a:t>**end_time**이 모두 있어야 서버에 **모델 실행 구간이 끝났다는 기록**이 있는 것</a:t>
            </a:r>
          </a:p>
          <a:p>
            <a:r>
              <a:t>여기까지 통과해도 **답변의 정답 여부는 여전히 별도**예요.</a:t>
            </a:r>
          </a:p>
          <a:p>
            <a:r>
              <a:t>usage가 비면 **알 수 없음**으로 남겨요. **비용을 모른다 ≠ 비용이 0**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**result_01.json의 trace_id**와 화면 상단 ID가 같은지 확인 — 새 요청이 아니라 **같은 실행**</a:t>
            </a:r>
          </a:p>
          <a:p>
            <a:r>
              <a:t>ChatOpenAI 선택 → 질문과 출력이 **로컬 결과와 같은지** 대조, 모델 이름 · 사용량도 확인</a:t>
            </a:r>
          </a:p>
          <a:p>
            <a:r>
              <a:t>브라우저의 현지 시각과 결과 파일의 UTC는 다르게 보여요 → **시각 말고 Trace ID로** 대응</a:t>
            </a:r>
          </a:p>
          <a:p>
            <a:r>
              <a:t>목록이 비면: **같은 지역 · 프로젝트 키? → 기간 · 환경 필터 → 잠시 뒤 02만 다시 실행**</a:t>
            </a:r>
          </a:p>
          <a:p>
            <a:r>
              <a:t>FAQ: 조회에도 OpenAI 키? → 공통 설정이 네 변수를 확인할 뿐, 실제 조회 인증은 **Langfuse 키**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(q2_solution.py와 같아요)</a:t>
            </a:r>
          </a:p>
          <a:p/>
          <a:p>
            <a:r>
              <a:t># 02_read_trace.py처럼 조회 결과만 보고 판정하세요. 모델을 다시 호출하지 않아요.</a:t>
            </a:r>
          </a:p>
          <a:p>
            <a:r>
              <a:t>def judge(observations):</a:t>
            </a:r>
          </a:p>
          <a:p>
            <a:r>
              <a:t>    if not observations:</a:t>
            </a:r>
          </a:p>
          <a:p>
            <a:r>
              <a:t>        return "조회 결과 없음"</a:t>
            </a:r>
          </a:p>
          <a:p>
            <a:r>
              <a:t>    generations = [x for x in observations if x.type.upper() == "GENERATION"]</a:t>
            </a:r>
          </a:p>
          <a:p>
            <a:r>
              <a:t>    if not generations or any(x.end_time is None for x in generations):</a:t>
            </a:r>
          </a:p>
          <a:p>
            <a:r>
              <a:t>        return "GENERATION_NOT_CONFIRMED"</a:t>
            </a:r>
          </a:p>
          <a:p>
            <a:r>
              <a:t>    return "서버 기록 확인"</a:t>
            </a:r>
          </a:p>
          <a:p/>
          <a:p>
            <a:r>
              <a:t>생각해 보기: '서버 기록 확인'이 나오면 답변이 정답이라는 뜻일까요? 정답 여부를 판단하려면 무엇을 더 확인해야 하나요?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x.type.upper() == "GENERATION"   ② x.end_time is None</a:t>
            </a:r>
          </a:p>
          <a:p/>
          <a:p>
            <a:r>
              <a:t>정답 파일: llmops_ch01\q2_solution.py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상황: 숙박 **한도는 규정 문서**에, 이번 출장의 **승인 여부는 업무 시스템**에 있어요.</a:t>
            </a:r>
          </a:p>
          <a:p>
            <a:r>
              <a:t>승인 상태가 틀렸는데 **문서 검색만 다시 하면** 해결되지 않아요 → 두 데이터를 **나눠서 관측**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**travel** = 누구에게나 적용되는 일반 한도 · 증빙 / **approval** = REQ-DEMO-01 한 건의 현재 상태</a:t>
            </a:r>
          </a:p>
          <a:p>
            <a:r>
              <a:t>**8만원 승인 ≠ 회사 숙박 한도 8만원** — 모델이 두 금액을 혼동할 수 있어요.</a:t>
            </a:r>
          </a:p>
          <a:p>
            <a:r>
              <a:t>혼동했을 때 **원래 조회 결과가 남아 있어야** 입력 문제인지 생성 문제인지 구분해요.</a:t>
            </a:r>
          </a:p>
          <a:p>
            <a:r>
              <a:t>이번 업무 조회는 **Python 사전으로 만든 모의 DB** — 외부 API · 결재 · 송금 연결 없음. 답변 생성만 실제 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바깥 **qa-with-business-lookup** = 사용자 요청 전체, 안쪽 **lookup-approval** = 업무 조회</a:t>
            </a:r>
          </a:p>
          <a:p>
            <a:r>
              <a:t>입력에 **요청 ID**, 출력에 **승인 결과** → 잘못된 대상을 조회했나 / 맞게 조회했는데 잘못 설명했나</a:t>
            </a:r>
          </a:p>
          <a:p>
            <a:r>
              <a:t>answer()는 **바깥 span 안에서** 호출 → 업무 조회와 QA가 **같은 Trace**</a:t>
            </a:r>
          </a:p>
          <a:p>
            <a:r>
              <a:t>extra_context에 **[approval]** 출처를 붙여 규정과 분리해 전달</a:t>
            </a:r>
          </a:p>
          <a:p>
            <a:r>
              <a:t>도구가 실패했는데 **정상 승인 데이터를 만들어 계속 진행하면 안 돼요.**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설명용: 전체 **1.5초**, 업무 조회 **0.1초**, QA **1.3초**</a:t>
            </a:r>
          </a:p>
          <a:p>
            <a:r>
              <a:t>**1.5 + 0.1 + 1.3 = 2.9초로 더하면 중복 계산** — 사용자가 기다린 시간은 **바깥 구간 1.5초**</a:t>
            </a:r>
          </a:p>
          <a:p>
            <a:r>
              <a:t>**전체 지연은 바깥 구간**으로, **내부 구간은 병목 위치**를 찾는 데 써요.</a:t>
            </a:r>
          </a:p>
          <a:p>
            <a:r>
              <a:t>병렬 처리가 들어가면 자식 합과 사용자가 기다린 시간이 **더 크게 달라져요.**</a:t>
            </a:r>
          </a:p>
          <a:p>
            <a:r>
              <a:t>도구 구간이 짧고 모델 구간이 길면 → 업무 DB보다 **생성 길이 · 모델 설정** 먼저. 단, **한 번의 실행으로 단정 X**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Tree에서 **lookup-approval** 선택 → Input **REQ-DEMO-01**, Output **승인 · 8만원**</a:t>
            </a:r>
          </a:p>
          <a:p>
            <a:r>
              <a:t>승인 금액을 확인할 때는 **모델 답변이 아니라 이 도구 출력**을 기준으로 삼아요.</a:t>
            </a:r>
          </a:p>
          <a:p>
            <a:r>
              <a:t>ChatOpenAI의 user 입력에 **숙박 규정과 승인 결과가 함께** 있는지, 답변이 **10만원 한도 / 8만원 승인**을 구분하는지</a:t>
            </a:r>
          </a:p>
          <a:p>
            <a:r>
              <a:t>실무: 요청자의 **권한 확인 뒤** 업무 데이터 조회 (4장). 조회 오류를 **승인/미승인으로 바꾸지 않기**</a:t>
            </a:r>
          </a:p>
          <a:p>
            <a:r>
              <a:t>이 예제는 모델이 도구를 고르는 **에이전트가 아니에요** — 고정된 승인 내역만 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(q3_solution.py와 같아요)</a:t>
            </a:r>
          </a:p>
          <a:p/>
          <a:p>
            <a:r>
              <a:t># 사용자가 기다린 시간과 병목 구간을 구하세요. 자식 시간을 부모에 더하면 중복 계산이에요.</a:t>
            </a:r>
          </a:p>
          <a:p>
            <a:r>
              <a:t>def children(name):</a:t>
            </a:r>
          </a:p>
          <a:p>
            <a:r>
              <a:t>    return [s for s in spans if s["parent"] == name]</a:t>
            </a:r>
          </a:p>
          <a:p/>
          <a:p/>
          <a:p>
            <a:r>
              <a:t>root = [s for s in spans if s["parent"] is None][0]</a:t>
            </a:r>
          </a:p>
          <a:p>
            <a:r>
              <a:t>total_ms = root["ms"]</a:t>
            </a:r>
          </a:p>
          <a:p>
            <a:r>
              <a:t>bottleneck = max(children(root["name"]), key=lambda s: s["ms"])</a:t>
            </a:r>
          </a:p>
          <a:p>
            <a:r>
              <a:t>inner = max(children(bottleneck["name"]), key=lambda s: s["ms"])</a:t>
            </a:r>
          </a:p>
          <a:p/>
          <a:p>
            <a:r>
              <a:t>생각해 보기: lookup-approval과 policy-qa를 동시에 실행하도록 바꾸면 total_ms는 어떻게 달라질까요? 자식 시간의 합보다 부모가 짧아질 수 있는 이유는?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s["parent"] == name   ② root["ms"]   ③ s["ms"]</a:t>
            </a:r>
          </a:p>
          <a:p/>
          <a:p>
            <a:r>
              <a:t>정답 파일: llmops_ch01\q3_solution.py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상황: 성공률이 **예상보다 높아요.** 상태가 없는 행까지 정상으로 셌기 때문일 수 있어요.</a:t>
            </a:r>
          </a:p>
          <a:p>
            <a:r>
              <a:t>실패 분석 전에 **무엇을 완료된 실행으로 인정할지**부터 정해요.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status가 없거나 모르는 값 → **incomplete** (정상으로 추정하지 않아요)</a:t>
            </a:r>
          </a:p>
          <a:p>
            <a:r>
              <a:t>② 시각을 못 읽음 · **시간대 없음** · 종료가 시작보다 빠름 → **invalid_time**</a:t>
            </a:r>
          </a:p>
          <a:p>
            <a:r>
              <a:t>③ 그다음 명시적 failed → **model_error**, ④ 완료인데 문서 없음 → **retrieval_empty**</a:t>
            </a:r>
          </a:p>
          <a:p>
            <a:r>
              <a:t>**먼저 검사한 조건이 대표 분류**를 정해요. 모든 원인을 한꺼번에 모으는 분류기는 아니에요.</a:t>
            </a:r>
          </a:p>
          <a:p>
            <a:r>
              <a:t>retrieval_empty는 원인 분류 — **곧바로 사용자 응답 실패를 뜻하지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datetime.**fromisoformat**으로 실제 날짜를 읽고 **tzinfo**까지 확인</a:t>
            </a:r>
          </a:p>
          <a:p>
            <a:r>
              <a:t>**+00:00 같은 시간대**가 있어야 서로 다른 PC의 기록을 같은 기준으로 비교해요.</a:t>
            </a:r>
          </a:p>
          <a:p>
            <a:r>
              <a:t>try/except는 **파싱 경계만** 감싸요 — 모든 코드를 예외 처리로 덮지 않아요.</a:t>
            </a:r>
          </a:p>
          <a:p>
            <a:r>
              <a:t>invalid_time이 나왔다고 **모델 호출이 정상이라는 뜻은 아니에요** (failed 검사 전에 반환)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여섯 사례는 **코드에 고정한 모의 입력** — 모델 API를 실패시키거나 실제 시스템에 오류를 넣지 않아요.</a:t>
            </a:r>
          </a:p>
          <a:p>
            <a:r>
              <a:t>모의 입력 1개 = Trace 1개, 그 Trace ID에 **failure_category** 점수 → **입력과 판정을 함께** 조회</a:t>
            </a:r>
          </a:p>
          <a:p>
            <a:r>
              <a:t>**simulation=True** — 실제 운영 오류율의 **분모에 모의 사례가 섞이지 않게**</a:t>
            </a:r>
          </a:p>
          <a:p>
            <a:r>
              <a:t>Langfuse 화면: 점수는 **Trace 상단**에서 읽어요. 모델 노드 Scores 탭이 아니에요.</a:t>
            </a:r>
          </a:p>
          <a:p>
            <a:r>
              <a:t>**Warning 표시는 주의 신호**일 뿐 — 원인 설명의 근거는 **입력과 분류 결과**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**재택근무 지원금**: 규정 밖 → 출처 없이 **'확인할 수 없습니다'가 올바른 답**</a:t>
            </a:r>
          </a:p>
          <a:p>
            <a:r>
              <a:t>**교육비 증빙인데 표현 차이로 검색 실패**: 필요한 training을 못 찾은 **검색 결함**</a:t>
            </a:r>
          </a:p>
          <a:p>
            <a:r>
              <a:t>둘 다 문서 목록은 비어 있지만 **같은 결함으로 묶으면 안 돼요.**</a:t>
            </a:r>
          </a:p>
          <a:p>
            <a:r>
              <a:t>Trace = 사건의 **증거**, 평가 데이터 = 다음 변경에서도 같은 문제를 확인할 **고정된 질문과 기준** → **2장 Golden Dataset**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(q4_solution.py와 같아요)</a:t>
            </a:r>
          </a:p>
          <a:p/>
          <a:p>
            <a:r>
              <a:t># 사용자가 요청을 취소한 기록(cancelled)을 새 분류로 추가하세요. 기록 형식 검사가 먼저예요.</a:t>
            </a:r>
          </a:p>
          <a:p>
            <a:r>
              <a:t>def classify(row):</a:t>
            </a:r>
          </a:p>
          <a:p>
            <a:r>
              <a:t>    if row.get("status") not in {"completed", "failed", "cancelled"}:</a:t>
            </a:r>
          </a:p>
          <a:p>
            <a:r>
              <a:t>        return "incomplete"</a:t>
            </a:r>
          </a:p>
          <a:p>
            <a:r>
              <a:t>    try:</a:t>
            </a:r>
          </a:p>
          <a:p>
            <a:r>
              <a:t>        start, end = [datetime.fromisoformat(row[k]) for k in ("started_at", "ended_at")]</a:t>
            </a:r>
          </a:p>
          <a:p>
            <a:r>
              <a:t>        if start.tzinfo is None or end.tzinfo is None or end &lt; start:</a:t>
            </a:r>
          </a:p>
          <a:p>
            <a:r>
              <a:t>            return "invalid_time"</a:t>
            </a:r>
          </a:p>
          <a:p>
            <a:r>
              <a:t>    except (KeyError, TypeError, ValueError):</a:t>
            </a:r>
          </a:p>
          <a:p>
            <a:r>
              <a:t>        return "invalid_time"</a:t>
            </a:r>
          </a:p>
          <a:p>
            <a:r>
              <a:t>    if row["status"] == "failed":</a:t>
            </a:r>
          </a:p>
          <a:p>
            <a:r>
              <a:t>        return "model_error"</a:t>
            </a:r>
          </a:p>
          <a:p>
            <a:r>
              <a:t>    if row["status"] == "cancelled":</a:t>
            </a:r>
          </a:p>
          <a:p>
            <a:r>
              <a:t>        return "cancelled"</a:t>
            </a:r>
          </a:p>
          <a:p>
            <a:r>
              <a:t>    if not row.get("document_ids"):</a:t>
            </a:r>
          </a:p>
          <a:p>
            <a:r>
              <a:t>        return "retrieval_empty"</a:t>
            </a:r>
          </a:p>
          <a:p>
            <a:r>
              <a:t>    return "completed"</a:t>
            </a:r>
          </a:p>
          <a:p/>
          <a:p>
            <a:r>
              <a:t>생각해 보기: 취소된 요청은 오류율의 분모에 넣어야 할까요? 3장에서 운영 지표로 보고할 때 어떻게 표시할지 생각해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2장 전에 직접 해 볼 것: 01_trace.py 질문을 '출장 숙박비 증빙'으로 / Tracing에서 simulated-failure-case 열기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1-1 **Trace ID로 한 요청을 묶고**, 일반 함수는 수동 span, **completed ≠ 정답**</a:t>
            </a:r>
          </a:p>
          <a:p>
            <a:r>
              <a:t>1-2 **flush ≠ 서버 조회**, 질문 말고 Trace ID, **GENERATION + end_time**</a:t>
            </a:r>
          </a:p>
          <a:p>
            <a:r>
              <a:t>1-3 **규정 vs 업무 결과** 출처 분리, **부모 시간에 자식 포함**</a:t>
            </a:r>
          </a:p>
          <a:p>
            <a:r>
              <a:t>1-4 **모르는 상태를 성공으로 채우지 않기**, simulation 분리 → 2장: 실패를 **평가 질문**으로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LLMOps · Private LLM Course · 1장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LLMOps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1장 · 실행 관측과 실패 원인 분석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답변 뒤에 남은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증거를 읽어요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준비 → 1장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1-1  LLMOps의 목적과 요청 단위 관측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Trace · observation · 완료 ≠ 정답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1-2  Trace 재조회와 실행 증거 확인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flush ≠ 서버 조회 · GENERATION 종료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1-3  검색과 업무 도구의 실행 흐름 추적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규정 vs 승인 결과 · 부모/자식 지연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1-4  실패 판정과 원인 분류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판정 순서 · 모의 실패 · failure_category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1장 흐름: 기록하고 → 다시 찾고 → 나누고 → 분류해요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09728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요청 단위 관측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Trace 하나로 묶기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13432" y="1554480"/>
            <a:ext cx="246888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587752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697480" y="109728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재조회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서버에 남았나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43984" y="1554480"/>
            <a:ext cx="246888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718304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28032" y="109728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도구 추적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규정 vs 업무 결과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74536" y="1554480"/>
            <a:ext cx="246888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48856" y="10972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958584" y="1097280"/>
            <a:ext cx="160934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실패 분류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모르는 상태 ≠ 성공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84124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1-1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87752" y="84124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1-2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18304" y="84124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1-3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48856" y="84124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1-4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57200" y="2286000"/>
          <a:ext cx="822960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4206240"/>
                <a:gridCol w="20116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파일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강의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호출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00_start.py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준비: 첫 실제 호출 + response_completed 점수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모델 1회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01_trace.py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1-1 교육비 질문 한 건을 Trace로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모델 1회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02_read_trace.py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1-2 같은 Trace를 서버에서 다시 조회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조회만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03_steps.py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1-3 모의 업무 조회 + 숙박 규정 QA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모델 1회 (업무는 모의 DB)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04_failures.py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1-4 모의 사례 6개 분류 → Langfuse 점수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모델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누가 무엇을 하나요: 실행은 내 PC, 기록은 Langfuse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097280"/>
            <a:ext cx="160934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내 PC · Python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course.py · 강의 파일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uv가 환경 관리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13432" y="1623060"/>
            <a:ext cx="246888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587752" y="109728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697480" y="1097280"/>
            <a:ext cx="160934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LangChain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프롬프트 | 모델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CallbackHandler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43984" y="1623060"/>
            <a:ext cx="246888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718304" y="109728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28032" y="1097280"/>
            <a:ext cx="160934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OpenAI API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답변 생성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OPENAI_API_KEY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74536" y="1623060"/>
            <a:ext cx="246888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848856" y="109728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958584" y="1097280"/>
            <a:ext cx="160934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Langfuse Cloud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Trace · 데이터셋 · 점수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프로젝트 키 쌍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57200" y="2423160"/>
          <a:ext cx="822960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3108960"/>
                <a:gridCol w="3291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도구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하는 일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필요한 준비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Python + uv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코드 실행과 프로젝트 환경 관리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제공된 프로젝트와 잠금 파일 (uv.lock)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VS Code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파일 편집과 PowerShell 터미널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폴더 열기 · Python 확장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LangChain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프롬프트와 모델 호출 연결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ZIP에 고정한 패키지 버전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Langfuse Cloud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Trace · 데이터셋 · 점수 보관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Public/Secret Key 쌍 + 지역 주소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준비 </a:t>
            </a:r>
            <a:r>
              <a:rPr b="1">
                <a:solidFill>
                  <a:srgbClr val="FB062F"/>
                </a:solidFill>
              </a:rPr>
              <a:t>0</a:t>
            </a:r>
            <a:r>
              <a:rPr b="1">
                <a:solidFill>
                  <a:srgbClr val="858793"/>
                </a:solidFill>
              </a:rPr>
              <a:t>   첫 실행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수업 준비: Langfuse 이해와 첫 실행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계정 · 조직 → 프로젝트 policy-qa → 프로젝트 API 키와 지역 주소 → .env → uv sync → 00_start.py → Trace 화면 읽기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수업 준비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키 네 개는 발급처와 용도가 달라요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539496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83080"/>
                <a:gridCol w="1828800"/>
                <a:gridCol w="17830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환경 변수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발급처 · 용도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잘못 넣기 쉬운 값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OPENAI_API_KEY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OpenAI 모델 요청 인증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ChatGPT 비밀번호, Langfuse 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LANGFUSE_PUBLIC_KEY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Langfuse 프로젝트 Public Key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조직 관리 키, 다른 프로젝트 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LANGFUSE_SECRET_KEY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같은 프로젝트의 Secret Key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다른 쌍의 Secret Key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LANGFUSE_BASE_URL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프로젝트 지역 주소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프로젝트 상세 URL, OpenAI 주소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OPENAI_MODEL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비워 두면 gpt-5.6-luna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강의 중 모델 바꾸기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035040" y="1051560"/>
          <a:ext cx="2651760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40080"/>
                <a:gridCol w="20116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지역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LANGFUSE_BASE_URL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41617"/>
                          </a:solidFill>
                        </a:rPr>
                        <a:t>EU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41617"/>
                          </a:solidFill>
                        </a:rPr>
                        <a:t>https://cloud.langfuse.com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41617"/>
                          </a:solidFill>
                        </a:rPr>
                        <a:t>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41617"/>
                          </a:solidFill>
                        </a:rPr>
                        <a:t>https://us.cloud.langfuse.com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850" b="1">
                          <a:solidFill>
                            <a:srgbClr val="141617"/>
                          </a:solidFill>
                        </a:rPr>
                        <a:t>Japan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solidFill>
                            <a:srgbClr val="141617"/>
                          </a:solidFill>
                        </a:rPr>
                        <a:t>https://jp.cloud.langfuse.com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035040" y="28346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7920" y="2944368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가입한 지역 주소를 계속 써요.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지역을 바꾸면 프로젝트가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따라오지 않아요.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수업 준비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.env를 채우고 첫 코드를 실행해요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3931920" cy="1828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657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장마다 처음 한 번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Copy-Item .env.example .env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sync --locked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식비 질문 한 번 = 실제 모델 1회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--locked 00_start.py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1051560"/>
            <a:ext cx="4114800" cy="1828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709160" y="1124712"/>
            <a:ext cx="3840480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응답 상태: completed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답변: 식비 한도는 하루 2만 원이며,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    영수증이 필요합니다. [meal]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Trace: [본인의 Langfuse 실행 주소]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기록 전송을 마쳤어요. Trace 화면에서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GENERATION과 response_completed를 확인하세요.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063240"/>
            <a:ext cx="393192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31546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OPENAI_API_KEY=본인_OpenAI_API_키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LANGFUSE_PUBLIC_KEY=본인_Public_Key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LANGFUSE_SECRET_KEY=본인_Secret_Key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LANGFUSE_BASE_URL=https://cloud.langfuse.com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OPENAI_MODEL=gpt-5.6-luna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3063240"/>
            <a:ext cx="4114800" cy="14630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54880" y="3172968"/>
            <a:ext cx="3749039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본인_키는 설명용 자리 표시자예요.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키 확인하려고 .env 전체를 터미널에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출력할 필요는 없어요.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수업 준비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00_start.py: 완료 점수는 '정답'이 아니에요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754880" cy="2514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48056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main():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lf, model = connect()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lf.auth_check():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raise RuntimeError("LANGFUSE_AUTH_FAILED")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row = answer(lf, model,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"식비 한도와 필요한 서류는 무엇인가요?")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lf.create_score(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trace_id=row["trace_id"],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name="response_completed",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value=1, data_type="BOOLEAN")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save("result_start.json", row)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finish(lf, row)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394960" y="1051560"/>
          <a:ext cx="3291840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코드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확인할 증거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auth_check()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인증 실패 시 중단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answer(...)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completed + 빈 답변 아님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create_score(...)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같은 Trace ID에 점수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finish(...)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flush + Trace 주소 출력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381304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result_start.json에는 질문 · 답변 · Trace ID · 사용량만 저장해요. 키는 저장하지 않아요.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수업 준비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실제 Trace 화면: 왼쪽 Tree, 오른쪽 Preview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pic>
        <p:nvPicPr>
          <p:cNvPr id="26" name="Picture 25" descr="setup_desk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760720" cy="28142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7200" y="3865845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858793"/>
                </a:solidFill>
              </a:rPr>
              <a:t>교안의 실제 실행 화면 (ChatOpenAI 선택)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00584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10528" y="1005840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41617"/>
                </a:solidFill>
              </a:rPr>
              <a:t>policy-qa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코드가 붙인 요청 구간 이름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(프로젝트명 아님)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0574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10528" y="2057400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41617"/>
                </a:solidFill>
              </a:rPr>
              <a:t>ChatOpenAI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system · user · assistant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실제 모델 입출력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10896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10528" y="3108960"/>
            <a:ext cx="2066543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B062F"/>
                </a:solidFill>
              </a:rPr>
              <a:t>null / undefined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Trace 자체 표시일 뿐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단계를 눌러서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수업 준비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막힐 때: 증상 → 확인할 곳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32186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60320"/>
                <a:gridCol w="3200400"/>
                <a:gridCol w="246888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증상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확인할 곳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해결 후 확인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키 누락 ValueError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.env 이름 · 네 필수 변수 · 저장 여부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같은 폴더에서 다시 실행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Langfuse 인증 실패 · 401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프로젝트 키 쌍 · 만료 · 지역 주소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같은 프로젝트 키로 00_start.py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OpenAI 401 / 403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OpenAI 키 유효성 · 모델 사용 권한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Langfuse 키와 바뀌지 않았는지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429 · 사용 한도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사용량 · 결제 · 호출 제한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반복 호출 멈추기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Trace가 안 보임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프로젝트 · 지역 · 기간 · 환경 필터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잠시 뒤 같은 Trace 주소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MODEL_RESPONSE_INCOMPLETE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출력 한도와 실제 생성 상태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성공으로 세지 않기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ModuleNotFoundError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프로젝트 위치 · uv 실행 여부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uv sync --locked 후 uv run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1-1</a:t>
            </a:r>
            <a:r>
              <a:rPr b="1">
                <a:solidFill>
                  <a:srgbClr val="858793"/>
                </a:solidFill>
              </a:rPr>
              <a:t>   요청 단위 관측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LLMOps의 목적과 요청 단위 관측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같은 오답, 다른 고칠 곳 → Trace와 observation → 버전과 출처 남기기 → 호출 성공 ≠ 품질 성공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요청 단위 관측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같은 오답에도 고칠 곳이 달라요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051560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검색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training을 찾았나?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53512" y="1485900"/>
            <a:ext cx="35661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37560" y="105156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47288" y="1051560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입력 조립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수료증 문장이 들어갔나?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33872" y="1485900"/>
            <a:ext cx="35661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0" y="105156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27648" y="1051560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생성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답에서 빠뜨렸나?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2148840"/>
          <a:ext cx="822960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23360"/>
                <a:gridCol w="182880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관측한 증거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실패가 처음 드러난 위치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다음에 바꿀 대상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검색 문서 목록이 비어 있음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검색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질문 표현 · 키워드 · 검색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training은 찾았지만 모델 입력에 증빙 문장이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입력 조립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context 구성 코드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입력에 두 증빙이 있지만 답에는 하나만 있음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생성 이후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응답 지시 · 필수 사실 검사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417880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모델을 바꾸기 전에, 근거가 처음 사라진 단계부터 찾아요.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요청 단위 관측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Trace는 요청 전체, observation은 그 안의 단계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754880" cy="27889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48056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handler = CallbackHandler()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with lf.start_as_current_observation(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name="policy-qa", as_type="span",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input={"question": question},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metadata={"app_version": version,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"synthetic": True},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) as root: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with lf.start_as_current_observation(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name="retrieve", as_type="span",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input=question) as step: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docs = retrieve(question)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step.update(output={"document_ids":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[d["id"] for d in docs]})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1051560"/>
            <a:ext cx="3291840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504688" y="1051560"/>
            <a:ext cx="3108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policy-qa</a:t>
            </a:r>
            <a:r>
              <a:rPr sz="750" b="0">
                <a:solidFill>
                  <a:srgbClr val="858793"/>
                </a:solidFill>
              </a:rPr>
              <a:t>   span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04688" y="1691639"/>
            <a:ext cx="182880" cy="0"/>
          </a:xfrm>
          <a:prstGeom prst="line">
            <a:avLst/>
          </a:prstGeom>
          <a:ln w="15240">
            <a:solidFill>
              <a:srgbClr val="E0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687568" y="1499616"/>
            <a:ext cx="2999232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797296" y="1499616"/>
            <a:ext cx="28163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retrieve</a:t>
            </a:r>
            <a:r>
              <a:rPr sz="750" b="0">
                <a:solidFill>
                  <a:srgbClr val="858793"/>
                </a:solidFill>
              </a:rPr>
              <a:t>   span · 수동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504688" y="2139696"/>
            <a:ext cx="182880" cy="0"/>
          </a:xfrm>
          <a:prstGeom prst="line">
            <a:avLst/>
          </a:prstGeom>
          <a:ln w="15240">
            <a:solidFill>
              <a:srgbClr val="E0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687568" y="1947672"/>
            <a:ext cx="2999232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797296" y="1947672"/>
            <a:ext cx="28163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generate-answer</a:t>
            </a:r>
            <a:r>
              <a:rPr sz="750" b="0">
                <a:solidFill>
                  <a:srgbClr val="858793"/>
                </a:solidFill>
              </a:rPr>
              <a:t>   chain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797296" y="2587752"/>
            <a:ext cx="182880" cy="0"/>
          </a:xfrm>
          <a:prstGeom prst="line">
            <a:avLst/>
          </a:prstGeom>
          <a:ln w="15240">
            <a:solidFill>
              <a:srgbClr val="E0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980176" y="2395728"/>
            <a:ext cx="2706624" cy="38404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089904" y="2395728"/>
            <a:ext cx="25237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ChatPromptTemplate</a:t>
            </a:r>
            <a:r>
              <a:rPr sz="750" b="0">
                <a:solidFill>
                  <a:srgbClr val="858793"/>
                </a:solidFill>
              </a:rPr>
              <a:t>   chain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797296" y="3035808"/>
            <a:ext cx="182880" cy="0"/>
          </a:xfrm>
          <a:prstGeom prst="line">
            <a:avLst/>
          </a:prstGeom>
          <a:ln w="15240">
            <a:solidFill>
              <a:srgbClr val="E0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980176" y="2843784"/>
            <a:ext cx="2706624" cy="384048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089904" y="2843784"/>
            <a:ext cx="25237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ChatOpenAI</a:t>
            </a:r>
            <a:r>
              <a:rPr sz="750" b="0">
                <a:solidFill>
                  <a:srgbClr val="858793"/>
                </a:solidFill>
              </a:rPr>
              <a:t>   GENERATION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977639"/>
            <a:ext cx="8229600" cy="5943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0080" y="4087368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트리 항목 수 ≠ 모델 호출 횟수.  ChatPromptTemplate은 메시지 구성, ChatOpenAI만 실제 모델 호출이에요.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요청 단위 관측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LangChain 호출을 같은 Trace에 붙이고, 출처를 남겨요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5120640" cy="2377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context = "\n".join(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f"[{d['id']}] {d['text']}" for d in docs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) + extra_context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prompt = ChatPromptTemplate.from_messages([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SystemMessage(content=instruction),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("human", "근거:\n{context}\n질문: {question}"),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reply = (prompt | model).invoke(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{"context": context, "question": question},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config={"callbacks": [handler],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"run_name": "generate-answer"})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1051560"/>
            <a:ext cx="2926080" cy="9144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897880" y="1124712"/>
            <a:ext cx="265176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[training] 교육비는 연간 20만원까지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지원하며 영수증과 수료증이 필요합니다.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2011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58793"/>
                </a:solidFill>
              </a:rPr>
              <a:t>↑ 모델에 전달할 근거 (생성된 답변 아님)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760720" y="2286000"/>
          <a:ext cx="2926080" cy="12435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80160"/>
                <a:gridCol w="164592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남기는 값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용도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app_version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어느 버전의 실행인가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document_ids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실제 전달한 출처 범위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synthetic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수업용 가상 자료 표시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457200" y="3703320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81304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Trace를 많이 모으는 게 목적이 아니에요.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이번 요청에 어떤 근거가 들어갔고 어떤 응답이 돌아왔는지 설명할 수 있어야 해요.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요청 단위 관측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호출 성공과 품질 성공은 따로 확인해요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10515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if reply.response_metadata.get("status") != "completed" \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or not reply.text.strip():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RuntimeError("MODEL_RESPONSE_INCOMPLETE")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40280"/>
          <a:ext cx="457200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1691640"/>
                <a:gridCol w="15087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반환 필드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이어지는 사용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answer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모델이 반환한 문장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2장 내용 평가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document_ids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모델에 준 문서 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출처 범위 대조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trace_id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Langfuse 실행 식별자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1-2 서버 재조회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started_at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시간대 있는 시작 시각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조회 기간 지정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41617"/>
                          </a:solidFill>
                        </a:rPr>
                        <a:t>usage · latency_ms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사용량 · 로컬 지연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41617"/>
                          </a:solidFill>
                        </a:rPr>
                        <a:t>3장 측정 · 집계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212080" y="1051560"/>
          <a:ext cx="3474720" cy="2286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확인 지점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이번 예제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검색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training 선택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생성 입력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교육비 규정 본문 포함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응답 완료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status=completed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답변 내용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20만원 · 영수증 · 수료증 · [training]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5212080" y="3474720"/>
            <a:ext cx="347472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394960" y="3584448"/>
            <a:ext cx="3108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완료 검사 = 평가할 답이 있는가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내용 평가 = 업무 조건을 지켰는가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요청 단위 관측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실행: 01_trace.py와 실제 Trace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05840"/>
            <a:ext cx="8229600" cy="384048"/>
          </a:xfrm>
          <a:prstGeom prst="roundRect">
            <a:avLst>
              <a:gd name="adj" fmla="val 6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005840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</a:rPr>
              <a:t>▶ </a:t>
            </a: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uv run --locked 01_trace.py</a:t>
            </a:r>
            <a:r>
              <a:rPr sz="900" b="0">
                <a:solidFill>
                  <a:srgbClr val="E0E1E5"/>
                </a:solidFill>
              </a:rPr>
              <a:t>     실제 모델 1회</a:t>
            </a:r>
          </a:p>
        </p:txBody>
      </p:sp>
      <p:pic>
        <p:nvPicPr>
          <p:cNvPr id="28" name="Picture 27" descr="ch01_deskt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34" y="1508760"/>
            <a:ext cx="5053690" cy="2468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7200" y="4023359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858793"/>
                </a:solidFill>
              </a:rPr>
              <a:t>교안의 실제 실행 화면: 교육비 질문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1508760"/>
            <a:ext cx="2651760" cy="17373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72200" y="1581912"/>
            <a:ext cx="2377440" cy="1591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검색한 문서: ['training']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응답 상태: completed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답변: 교육비는 연간 20만 원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까지 지원하며, 영수증과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수료증이 필요합니다.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[training]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338328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0" y="3493008"/>
            <a:ext cx="22860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검색이 비었다면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모델을 바꾸기 전에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검색 단계부터 고쳐요.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요청 단위 관측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1-1. 실패가 처음 드러난 단계 찾기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locate(question, context, answer):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retrieve(question)가 비었으면 "검색"을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context에 REQUIRED 표현이 하나라도 없으면 "입력 조립"을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answer에 REQUIRED 표현이 하나라도 없으면 "생성", 모두 있으면 "정상"을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llmops_ch01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q1_hard.py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A 검색 · B 입력 조립 · C 생성 · D 정상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검색 → 입력 → 답변 순서로 확인해요 (앞 단계가 실패하면 뒤는 보지 않아요)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같은 '수료증 누락'도 고칠 곳이 달라요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1-1 요청 단위 관측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1-1. 실패가 처음 드러난 단계 찾기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locate(question, context, answer):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____:  # 검색 문서가 하나도 없어요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"검색"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all(term in ____ for term in REQUIRED):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"입력 조립"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all(term in ____ for term in REQUIRED):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"생성"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"정상"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q1_easy.py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llmops_ch01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q1_easy.py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A 검색 · B 입력 조립 · C 생성 · D 정상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검색 → 입력 → 답변 순서로 확인해요 (앞 단계가 실패하면 뒤는 보지 않아요)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같은 '수료증 누락'도 고칠 곳이 달라요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1-2</a:t>
            </a:r>
            <a:r>
              <a:rPr b="1">
                <a:solidFill>
                  <a:srgbClr val="858793"/>
                </a:solidFill>
              </a:rPr>
              <a:t>   Trace 재조회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Trace 재조회와 실행 증거 확인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실행 · 전송 · 조회는 다른 단계 → Trace ID와 시간 범위로 찾기 → GENERATION 종료 확인 → 조회 실패 해석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Trace 재조회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답변 출력 · 전송 완료 · 서버 조회는 다른 단계예요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051560"/>
            <a:ext cx="22494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터미널에 답변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로컬 코드가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응답을 받음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53512" y="1531619"/>
            <a:ext cx="35661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37560" y="105156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47288" y="1051560"/>
            <a:ext cx="22494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flush() 완료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남은 기록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전송 처리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33872" y="1531619"/>
            <a:ext cx="35661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17920" y="1051560"/>
            <a:ext cx="246888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27648" y="1051560"/>
            <a:ext cx="224942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B062F"/>
                </a:solidFill>
              </a:rPr>
              <a:t>서버 재조회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GENERATION이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서버에 있음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457200" y="2240280"/>
          <a:ext cx="8229600" cy="17556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3017520"/>
                <a:gridCol w="283464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보이는 현상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알 수 있는 사실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아직 모르는 사실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터미널에 답변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로컬 코드가 응답을 받음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Langfuse 저장 여부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Trace 주소 출력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연결할 Trace ID가 있음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서버 검색 반영 여부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GENERATION 재조회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서버에 모델 실행 기록이 있음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응답 내용의 정답 여부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4224528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조회만 다시 하면 생성 토큰이 추가로 들지 않아요.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Trace 재조회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질문 문장이 아니라 Trace ID로 찾아요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5394960" cy="2377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row = read("result_01.json")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observations = lf.api.observations.get_many(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trace_id=row["trace_id"],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limit=30,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fields="core,basic,usage,model,io",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from_start_time=datetime.fromisoformat(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row["started_at"]) - timedelta(minutes=1),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to_start_time=datetime.now(timezone.utc)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+ timedelta(minutes=1),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).data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035040" y="1051560"/>
          <a:ext cx="2651760" cy="2057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146304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조회 조건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trace_id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같은 실행만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시간 범위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UTC ± 1분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fields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필요한 필드만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limit=30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작은 조회량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372160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result_01.json은 전체 관측 저장소가 아니에요.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같은 실행을 다시 찾기 위한 Trace ID와 시작 시각만 담은 작은 결과 파일이에요.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Trace 재조회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GENERATION이 있고, 끝났는지 확인해요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generations = [x for x in observations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if x.type.upper() == "GENERATION"]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if not generations or any(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x.end_time is None for x in generations):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RuntimeError("GENERATION_NOT_CONFIRMED")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1051560"/>
            <a:ext cx="310896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715000" y="1124712"/>
            <a:ext cx="2834640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ChatOpenAI GENERATION 완료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ChatPromptTemplate CHAIN 완료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generate-answer CHAIN 완료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policy-qa SPAN 완료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retrieve SPAN 완료</a:t>
            </a:r>
          </a:p>
          <a:p>
            <a:pPr algn="l"/>
            <a:r>
              <a:rPr sz="8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서버 재조회 완료: 5 개 observation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" y="2606040"/>
          <a:ext cx="822960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2926080"/>
                <a:gridCol w="29260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조회한 상태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판단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확인할 근거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관측 0개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저장 여부를 아직 확인하지 못함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지역 · 프로젝트 · 조회 기간 · 반영 지연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검색 span만 있음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모델 실행 완료를 확인하지 못함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GENERATION 존재 여부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GENERATION에 종료 시각 있음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서버 기록의 실행 구간 종료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1-1의 completed와 실제 출력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완료됐지만 증빙 누락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실행 완료 + 품질 실패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모델 입력과 최종 답변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Trace 재조회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실행: 02_read_trace.py와 같은 Trace 화면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05840"/>
            <a:ext cx="8229600" cy="384048"/>
          </a:xfrm>
          <a:prstGeom prst="roundRect">
            <a:avLst>
              <a:gd name="adj" fmla="val 6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005840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</a:rPr>
              <a:t>▶ </a:t>
            </a: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uv run --locked 02_read_trace.py</a:t>
            </a:r>
            <a:r>
              <a:rPr sz="900" b="0">
                <a:solidFill>
                  <a:srgbClr val="E0E1E5"/>
                </a:solidFill>
              </a:rPr>
              <a:t>     모델 호출 없음 · Langfuse 조회만</a:t>
            </a:r>
          </a:p>
        </p:txBody>
      </p:sp>
      <p:pic>
        <p:nvPicPr>
          <p:cNvPr id="28" name="Picture 27" descr="ch01_trace_tr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60" y="1508760"/>
            <a:ext cx="3794399" cy="27889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7200" y="4343400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858793"/>
                </a:solidFill>
              </a:rPr>
              <a:t>교안의 실제 실행 화면: 같은 교육비 Trace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55448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73168" y="1554480"/>
            <a:ext cx="170078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관측 0개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지역 · 프로젝트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기간 · 반영 지연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155448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76288" y="1554480"/>
            <a:ext cx="170078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span만 있음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GENERATION 없음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= 모델 실행 미확인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2743200"/>
            <a:ext cx="4023360" cy="1783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46320" y="2852928"/>
            <a:ext cx="365760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조회가 비었다고 모델을 다시 부르지 않아요.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02_read_trace.py만 잠시 뒤 다시 실행하면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생성 토큰이 추가로 들지 않아요.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Trace 재조회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1-2. GENERATION 완료 판정하기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judge(observations):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목록이 비었으면 "조회 결과 없음"을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type을 대문자로 바꿨을 때 "GENERATION"인 항목만 generations에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generations가 없거나 end_time이 None인 항목이 있으면 "GENERATION_NOT_CONFIRMED"를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모두 통과하면 "서버 기록 확인"을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q2_hard.py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llmops_ch01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q2_hard.py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0개 → 조회 결과 없음 (저장 실패로 단정하지 않아요)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span만 있거나 end_time 없음 → GENERATION_NOT_CONFIRMED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type은 대소문자를 맞춰 비교해요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1-2 Trace 재조회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1-2. GENERATION 완료 판정하기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judge(observations):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observations: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"조회 결과 없음"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generations = [x for x in observations if ____]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generations or any(____ for x in generations):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"GENERATION_NOT_CONFIRMED"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"서버 기록 확인"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q2_easy.py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llmops_ch01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q2_easy.py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0개 → 조회 결과 없음 (저장 실패로 단정하지 않아요)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span만 있거나 end_time 없음 → GENERATION_NOT_CONFIRMED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type은 대소문자를 맞춰 비교해요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1-3</a:t>
            </a:r>
            <a:r>
              <a:rPr b="1">
                <a:solidFill>
                  <a:srgbClr val="858793"/>
                </a:solidFill>
              </a:rPr>
              <a:t>   업무 도구 추적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검색과 업무 도구의 실행 흐름 추적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규정과 개별 업무 결과 → 도구 경계를 직접 기록 → 부모와 자식 구간 → 답변을 원본 결과와 대조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업무 도구 추적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자료마다 책임지는 사실이 달라요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1508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2926080"/>
                <a:gridCol w="29260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출처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실제 예시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답변에서 구분할 뜻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travel (규정 문서)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1박 10만원, 영수증 필요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누구에게나 적용되는 가상 규정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approval (업무 조회)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REQ-DEMO-01, 승인, 8만원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해당 요청에서 승인된 금액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269748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2697480"/>
            <a:ext cx="7772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8만원 승인</a:t>
            </a:r>
            <a:r>
              <a:rPr sz="1500" b="1">
                <a:solidFill>
                  <a:srgbClr val="FB062F"/>
                </a:solidFill>
              </a:rPr>
              <a:t>  ≠  </a:t>
            </a:r>
            <a:r>
              <a:rPr sz="1500" b="1">
                <a:solidFill>
                  <a:srgbClr val="FFFFFF"/>
                </a:solidFill>
              </a:rPr>
              <a:t>숙박 한도 8만원</a:t>
            </a:r>
            <a:r>
              <a:rPr sz="1100" b="0">
                <a:solidFill>
                  <a:srgbClr val="E0E1E5"/>
                </a:solidFill>
              </a:rPr>
              <a:t>     규정은 일반 한도, 업무 조회는 이 요청의 상태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57200" y="3566160"/>
          <a:ext cx="8229600" cy="10424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77440"/>
                <a:gridCol w="2377440"/>
                <a:gridCol w="34747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단계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데이터 출처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검사할 사실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lookup-approval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모의 업무 DB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REQ-DEMO-01 · 승인 · 8만원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GENERATION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실제 모델 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규정 한도와 개별 승인 내역을 구분해 설명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업무 도구 추적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도구도 입력과 출력의 경계를 직접 기록해요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5120640" cy="27889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84632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with lf.start_as_current_observation(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name="qa-with-business-lookup", as_type="span",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metadata={"synthetic": True,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"lookup_source": "local-fixture"},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) as request: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with lf.start_as_current_observation(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name="lookup-approval", as_type="tool",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input={"request_id": "REQ-DEMO-01"}) as tool: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approval = {"request_id": "REQ-DEMO-01",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"status": "승인", "amount": "8만원"}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tool.update(output=approval)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row = answer(lf, model, "...", extra_context=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f"\n[approval] 요청 ...: 승인, 8만원")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1051560"/>
            <a:ext cx="2926080" cy="3657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870448" y="1051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qa-with-business-lookup</a:t>
            </a:r>
            <a:r>
              <a:rPr sz="650" b="0">
                <a:solidFill>
                  <a:srgbClr val="858793"/>
                </a:solidFill>
              </a:rPr>
              <a:t>   span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70448" y="1664207"/>
            <a:ext cx="118872" cy="0"/>
          </a:xfrm>
          <a:prstGeom prst="line">
            <a:avLst/>
          </a:prstGeom>
          <a:ln w="15240">
            <a:solidFill>
              <a:srgbClr val="E0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989320" y="1481328"/>
            <a:ext cx="2697480" cy="36576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099048" y="148132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lookup-approval</a:t>
            </a:r>
            <a:r>
              <a:rPr sz="650" b="0">
                <a:solidFill>
                  <a:srgbClr val="858793"/>
                </a:solidFill>
              </a:rPr>
              <a:t>   tool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70448" y="2093976"/>
            <a:ext cx="118872" cy="0"/>
          </a:xfrm>
          <a:prstGeom prst="line">
            <a:avLst/>
          </a:prstGeom>
          <a:ln w="15240">
            <a:solidFill>
              <a:srgbClr val="E0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989320" y="1911095"/>
            <a:ext cx="2697480" cy="3657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099048" y="1911095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policy-qa</a:t>
            </a:r>
            <a:r>
              <a:rPr sz="650" b="0">
                <a:solidFill>
                  <a:srgbClr val="858793"/>
                </a:solidFill>
              </a:rPr>
              <a:t>   span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99048" y="2523744"/>
            <a:ext cx="118872" cy="0"/>
          </a:xfrm>
          <a:prstGeom prst="line">
            <a:avLst/>
          </a:prstGeom>
          <a:ln w="15240">
            <a:solidFill>
              <a:srgbClr val="E0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217920" y="2340864"/>
            <a:ext cx="2468880" cy="3657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27648" y="234086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retrieve</a:t>
            </a:r>
            <a:r>
              <a:rPr sz="650" b="0">
                <a:solidFill>
                  <a:srgbClr val="858793"/>
                </a:solidFill>
              </a:rPr>
              <a:t>   span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99048" y="2953512"/>
            <a:ext cx="118872" cy="0"/>
          </a:xfrm>
          <a:prstGeom prst="line">
            <a:avLst/>
          </a:prstGeom>
          <a:ln w="15240">
            <a:solidFill>
              <a:srgbClr val="E0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217920" y="2770632"/>
            <a:ext cx="2468880" cy="3657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27648" y="277063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generate-answer</a:t>
            </a:r>
            <a:r>
              <a:rPr sz="650" b="0">
                <a:solidFill>
                  <a:srgbClr val="858793"/>
                </a:solidFill>
              </a:rPr>
              <a:t>   chain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327648" y="3383280"/>
            <a:ext cx="118872" cy="0"/>
          </a:xfrm>
          <a:prstGeom prst="line">
            <a:avLst/>
          </a:prstGeom>
          <a:ln w="15240">
            <a:solidFill>
              <a:srgbClr val="E0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446520" y="3200400"/>
            <a:ext cx="2240280" cy="3657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56248" y="320040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ChatOpenAI</a:t>
            </a:r>
            <a:r>
              <a:rPr sz="650" b="0">
                <a:solidFill>
                  <a:srgbClr val="858793"/>
                </a:solidFill>
              </a:rPr>
              <a:t>   GEN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977639"/>
            <a:ext cx="8229600" cy="5943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0080" y="4087368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as_type="tool"은 관측 기록의 유형 표시예요. 실제 외부 도구를 호출했다는 뜻이 아니에요.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업무 도구 추적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부모 시간에 자식 시간이 포함돼요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18872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qa-with-business-lookup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6080" y="1234440"/>
            <a:ext cx="5303520" cy="32004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75320" y="118872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</a:rPr>
              <a:t>1.5s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7373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    lookup-approval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1783080"/>
            <a:ext cx="353568" cy="320040"/>
          </a:xfrm>
          <a:prstGeom prst="roundRect">
            <a:avLst>
              <a:gd name="adj" fmla="val 1000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325368" y="173736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</a:rPr>
              <a:t>0.1s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28600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    policy-qa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79648" y="2331720"/>
            <a:ext cx="4596384" cy="320040"/>
          </a:xfrm>
          <a:prstGeom prst="roundRect">
            <a:avLst>
              <a:gd name="adj" fmla="val 1000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921752" y="2286000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</a:rPr>
              <a:t>1.3s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971800"/>
            <a:ext cx="393192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297180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062F"/>
                </a:solidFill>
              </a:rPr>
              <a:t>✗  1.5 + 0.1 + 1.3 = 2.9초</a:t>
            </a:r>
          </a:p>
          <a:p>
            <a:pPr algn="l"/>
            <a:r>
              <a:rPr sz="1000" b="0">
                <a:solidFill>
                  <a:srgbClr val="858793"/>
                </a:solidFill>
              </a:rPr>
              <a:t>자식 시간을 부모에 또 더했어요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2971800"/>
            <a:ext cx="393192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937760" y="2971800"/>
            <a:ext cx="3657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062F"/>
                </a:solidFill>
              </a:rPr>
              <a:t>✓  사용자가 기다린 시간 1.5초</a:t>
            </a:r>
          </a:p>
          <a:p>
            <a:pPr algn="l"/>
            <a:r>
              <a:rPr sz="1000" b="0">
                <a:solidFill>
                  <a:srgbClr val="858793"/>
                </a:solidFill>
              </a:rPr>
              <a:t>병목은 policy-qa(1.3초) 안에서 찾아요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설명용 숫자예요. 실제 지연은 실행마다 달라요.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업무 도구 추적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실행: 03_steps.py — 도구가 실제로 돌려준 값부터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05840"/>
            <a:ext cx="8229600" cy="384048"/>
          </a:xfrm>
          <a:prstGeom prst="roundRect">
            <a:avLst>
              <a:gd name="adj" fmla="val 6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005840"/>
            <a:ext cx="795527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</a:rPr>
              <a:t>▶ </a:t>
            </a: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uv run --locked 03_steps.py</a:t>
            </a:r>
            <a:r>
              <a:rPr sz="900" b="0">
                <a:solidFill>
                  <a:srgbClr val="E0E1E5"/>
                </a:solidFill>
              </a:rPr>
              <a:t>     실제 모델 1회 · 업무 조회는 모의 DB</a:t>
            </a:r>
          </a:p>
        </p:txBody>
      </p:sp>
      <p:pic>
        <p:nvPicPr>
          <p:cNvPr id="28" name="Picture 27" descr="ch01_business_looku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11" y="1508760"/>
            <a:ext cx="2931017" cy="2834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7200" y="438912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858793"/>
                </a:solidFill>
              </a:rPr>
              <a:t>lookup-approval의 Input · 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7639" y="1508760"/>
            <a:ext cx="4709160" cy="14173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114800" y="1581912"/>
            <a:ext cx="4434840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응답 상태: completed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답변: 출장 숙박비 한도는 1박 10만원이며,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영수증이 필요합니다. REQ-DEMO-01은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8만원으로 승인되었습니다. [travel] [approval]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업무 조회: 모의 DB / 답변 생성: 실제 모델 API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977639" y="3108960"/>
          <a:ext cx="4709160" cy="1234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514600"/>
                <a:gridCol w="219456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답변의 사실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되짚을 원본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1박 10만원 · 영수증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 문서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REQ-DEMO-01 · 승인 · 8만원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lookup-approval 출력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업무 도구 추적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1-3. 전체 지연과 병목 찾기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children(name):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parent가 name인 구간 목록을 반환하세요.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parent가 None인 구간을 root로 고르세요.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total_ms는 root의 ms예요. 모든 구간의 합이 아니에요.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bottleneck은 root의 자식 중 ms가 가장 큰 구간, inner는 bottleneck의 자식 중 ms가 가장 큰 구간이에요.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q3_hard.py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llmops_ch01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q3_hard.py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모든 구간 합 4185ms ≠ 사용자가 기다린 시간 1500ms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병목: policy-qa → generate-answer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업무 DB보다 생성 길이 · 모델 설정을 먼저 검토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1-3 업무 도구 추적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1-3. 전체 지연과 병목 찾기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children(name):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[s for s in spans if ____]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root = [s for s in spans if s["parent"] is None][0]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total_ms = ____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bottleneck = max(children(root["name"]), key=lambda s: 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inner = max(children(bottleneck["name"]), key=lambda s: s["ms"])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q3_easy.py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llmops_ch01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q3_easy.py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모든 구간 합 4185ms ≠ 사용자가 기다린 시간 1500ms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병목: policy-qa → generate-answer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업무 DB보다 생성 길이 · 모델 설정을 먼저 검토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1-4</a:t>
            </a:r>
            <a:r>
              <a:rPr b="1">
                <a:solidFill>
                  <a:srgbClr val="858793"/>
                </a:solidFill>
              </a:rPr>
              <a:t>   실패 분류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실패 판정과 원인 분류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판정 순서 → 시각은 파싱해서 검사 → 모의 실패를 Trace 점수로 → 실패를 다음 평가 질문으로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실패 분류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판정 순서가 결과를 바꿔요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737360" cy="5486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0972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status 유효?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6916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58793"/>
                </a:solidFill>
              </a:rPr>
              <a:t>아니면 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196596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1965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incomplete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12848" y="1371600"/>
            <a:ext cx="28346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2514600" y="1097280"/>
            <a:ext cx="1737360" cy="5486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514600" y="10972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시각 유효?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16916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58793"/>
                </a:solidFill>
              </a:rPr>
              <a:t>아니면 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14600" y="196596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514600" y="1965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invalid_time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270248" y="1371600"/>
            <a:ext cx="28346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572000" y="1097280"/>
            <a:ext cx="1737360" cy="5486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0" y="10972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failed?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6916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58793"/>
                </a:solidFill>
              </a:rPr>
              <a:t>맞으면 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196596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572000" y="1965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model_error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27648" y="1371600"/>
            <a:ext cx="28346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629400" y="1097280"/>
            <a:ext cx="1737360" cy="54864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524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629400" y="10972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문서 있음?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16916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858793"/>
                </a:solidFill>
              </a:rPr>
              <a:t>아니면 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29400" y="196596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FF0F2"/>
          </a:solidFill>
          <a:ln w="1524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629400" y="196596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retrieval_empty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1F8A70"/>
                </a:solidFill>
              </a:rPr>
              <a:t>네 검사를 모두 통과하면 → completed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457200" y="2880360"/>
          <a:ext cx="8229600" cy="17556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00400"/>
                <a:gridCol w="1645920"/>
                <a:gridCol w="338328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모의 사례 (base에서 필드 하나만 변경)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판정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정상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completed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완료 상태 · 시간 · 문서 정보가 유효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상태 누락 (status=None)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incomplete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정상 여부를 판단할 정보 부족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날짜 오류 · 시간 역전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invalid_time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시각 데이터 검토 필요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모델 실패 (status=failed)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model_error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명시적으로 실패한 실행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검색 없음 (document_ids=[])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retrieval_empty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질문에 따라 올바른 보류일 수도 있음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실패 분류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시각은 문자열 모양이 아니라 파싱해서 검사해요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5486400" cy="34747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5212080" cy="32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classify(row):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row.get("status") not in {"completed", "failed"}: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"incomplete"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try: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start, end = [datetime.fromisoformat(row[key])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  for key in ("started_at", "ended_at")]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start.tzinfo is None or end.tzinfo is None \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or end &lt; start: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return "invalid_time"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except (KeyError, TypeError, ValueError):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"invalid_time"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row["status"] == "failed":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"model_error"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row.get("document_ids"):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"retrieval_empty"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"completed"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1051560"/>
            <a:ext cx="2560320" cy="1828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63640" y="1124712"/>
            <a:ext cx="2286000" cy="1682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정상 -&gt; completed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모델 실패 -&gt; model_error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검색 없음 -&gt; retrieval_empty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상태 누락 -&gt; incomplete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날짜 오류 -&gt; invalid_time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시간 역전 -&gt; invalid_time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017520"/>
            <a:ext cx="2560320" cy="15087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09360" y="3127248"/>
            <a:ext cx="21945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모르는 상태를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성공으로 채우지 않아요.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버리면 품질이 실제보다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좋아 보여요.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실패 분류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모의 실패는 Trace 점수로, 운영 오류율과는 분리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846320" cy="2514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57200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with lf.start_as_current_observation(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name="simulated-failure-case", as_type="span",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input=sample, metadata={"simulation": True},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) as span: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span.update(output={"case": label, "outcome": outcome},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level="DEFAULT" if outcome == "completed"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else "WARNING")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lf.create_score(trace_id=span.trace_id,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name="failure_category", value=outcome,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data_type="CATEGORICAL")</a:t>
            </a:r>
          </a:p>
        </p:txBody>
      </p:sp>
      <p:pic>
        <p:nvPicPr>
          <p:cNvPr id="28" name="Picture 27" descr="ch01_fail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943" y="1051560"/>
            <a:ext cx="3087312" cy="146303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0" y="256032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858793"/>
                </a:solidFill>
              </a:rPr>
              <a:t>검색 없음 사례: retrieval_empty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3154680"/>
            <a:ext cx="3200400" cy="384048"/>
          </a:xfrm>
          <a:prstGeom prst="roundRect">
            <a:avLst>
              <a:gd name="adj" fmla="val 6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23560" y="3154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B062F"/>
                </a:solidFill>
              </a:rPr>
              <a:t>▶ </a:t>
            </a:r>
            <a:r>
              <a:rPr sz="8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uv run --locked 04_failures.py</a:t>
            </a:r>
            <a:r>
              <a:rPr sz="750" b="0">
                <a:solidFill>
                  <a:srgbClr val="E0E1E5"/>
                </a:solidFill>
              </a:rPr>
              <a:t>     모델 없음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749039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858768"/>
            <a:ext cx="78638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분류값만 따로 쌓으면 어떤 입력을 보고 내린 판단인지 찾기 어려워요. 같은 Trace에 붙여요.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실패 분류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검색 없음은 실패일까요? 기대 행동을 붙여야 알아요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2194560"/>
                <a:gridCol w="27432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검색 결과가 없는 질문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기대 행동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다음 평가에 넣을 기준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재택근무 지원금은 얼마인가요?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가상 규정 밖이므로 보류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출처 없이 확인할 수 없다고 답함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교육비 증빙을 물었지만 표현 차이로 검색 실패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training을 찾아 답함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영수증과 수료증, training 출처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288036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66928" y="2880360"/>
            <a:ext cx="160934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Trace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무슨 일이 있었나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(사건의 증거)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13432" y="3406139"/>
            <a:ext cx="246888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87752" y="288036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97480" y="2880360"/>
            <a:ext cx="160934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실패 분류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어디서 처음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드러났나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443984" y="3406139"/>
            <a:ext cx="246888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718304" y="288036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828032" y="2880360"/>
            <a:ext cx="160934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기대 행동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원래 무엇을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했어야 하나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74536" y="3406139"/>
            <a:ext cx="246888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848856" y="288036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958584" y="2880360"/>
            <a:ext cx="160934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Golden Dataset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2장: 다음 변경에도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같은 기준으로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실패 분류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1-4. cancelled 분류 추가하기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classify(row):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status가 completed, failed, cancelled 중 하나가 아니면 "incomplete"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started_at, ended_at을 파싱해요. 실패, 시간대 없음, 종료가 시작보다 빠름이면 "invalid_time"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failed면 "model_error", cancelled면 "cancelled"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문서 목록이 비었으면 "retrieval_empty", 아니면 "completed"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q4_hard.py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llmops_ch01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q4_hard.py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취소 → cancelled (문서가 없어도 retrieval_empty보다 먼저)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취소 + 시간 역전 → invalid_time (형식 검사가 먼저)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모르는 상태 timeout → incomplete   ·   시간대 없는 시각 → invalid_time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1-4 실패 분류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1-4. cancelled 분류 추가하기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classify(row):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row.get("status") not in ____: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"incomplete"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try: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start, end = [datetime.fromisoformat(row[k]) for k in ("started_at", "ended_at")]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start.tzinfo is None or end.tzinfo is None or ____: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return "invalid_time"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except (KeyError, TypeError, ValueError):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"invalid_time"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row["status"] == "failed":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"model_error"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row["status"] == ____: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"cancelled"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row.get("document_ids"):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return "retrieval_empty"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"completed"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q4_easy.py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llmops_ch01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q4_easy.py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취소 → cancelled (문서가 없어도 retrieval_empty보다 먼저)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취소 + 시간 역전 → invalid_time (형식 검사가 먼저)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모르는 상태 timeout → incomplete   ·   시간대 없는 시각 → invalid_time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1장 결과물: 한 요청의 증거를 남기고 읽는 법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1-1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요청 단위 관측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policy-qa → retrieve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→ ChatOpenAI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1343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1-2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재조회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5개 observation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GENERATION 완료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6344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1-3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도구 추적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10만원 한도 ≠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8만원 승인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19671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66559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0372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1-4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실패 분류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0116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6개 사례 판정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failure_category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9260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B062F"/>
                </a:solidFill>
              </a:rPr>
              <a:t>2장으로 이어지는 질문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41617"/>
                </a:solidFill>
              </a:rPr>
              <a:t>프롬프트를 고쳤더니 좋아진 것 같아요. 정말 좋아졌는지, 다른 질문이 나빠지지 않았는지 어떻게 알까요?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41617"/>
                </a:solidFill>
              </a:rPr>
              <a:t>→ Golden Dataset · 프롬프트 버전 고정 · Python 평가 · 변경 전후 회귀 판정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375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LLMOps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1장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/>
            </a:r>
            <a:endParaRPr lang="en-US" sz="3800" dirty="0"/>
          </a:p>
        </p:txBody>
      </p:sp>
      <p:sp>
        <p:nvSpPr>
          <p:cNvPr id="4" name="dlabel-376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2장 전에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직접 해 볼 것</a:t>
            </a:r>
            <a:endParaRPr lang="en-US" sz="1200" dirty="0"/>
          </a:p>
        </p:txBody>
      </p:sp>
      <p:sp>
        <p:nvSpPr>
          <p:cNvPr id="5" name="t-377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01_trace.py 질문을 '출장 숙박비 증빙'으로</a:t>
            </a:r>
            <a:endParaRPr lang="en-US" sz="1500" dirty="0"/>
          </a:p>
        </p:txBody>
      </p:sp>
      <p:sp>
        <p:nvSpPr>
          <p:cNvPr id="6" name="t-378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retrieve의 document_ids와 ChatOpenAI 입력 대조</a:t>
            </a:r>
            <a:endParaRPr lang="en-US" sz="950" dirty="0"/>
          </a:p>
        </p:txBody>
      </p:sp>
      <p:sp>
        <p:nvSpPr>
          <p:cNvPr id="7" name="t-379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Tracing에서 simulated-failure-case 열기</a:t>
            </a:r>
            <a:endParaRPr lang="en-US" sz="1500" dirty="0"/>
          </a:p>
        </p:txBody>
      </p:sp>
      <p:sp>
        <p:nvSpPr>
          <p:cNvPr id="8" name="t-380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failure_category와 입력을 사례별로 대응</a:t>
            </a:r>
            <a:endParaRPr lang="en-US" sz="950" dirty="0"/>
          </a:p>
        </p:txBody>
      </p:sp>
      <p:pic>
        <p:nvPicPr>
          <p:cNvPr id="9" name="ts-38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2일차 오전 · Private LLM Course</dc:title>
  <dc:subject>PptxGenJS Presentation</dc:subject>
  <dc:creator>김기인</dc:creator>
  <cp:lastModifiedBy>김기인</cp:lastModifiedBy>
  <cp:revision>1</cp:revision>
  <dcterms:created xsi:type="dcterms:W3CDTF">2026-10-05T08:57:24Z</dcterms:created>
  <dcterms:modified xsi:type="dcterms:W3CDTF">2026-10-05T08:57:24Z</dcterms:modified>
</cp:coreProperties>
</file>